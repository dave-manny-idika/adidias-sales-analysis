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Idika" userId="70ea3614d7ae23b1" providerId="LiveId" clId="{705F800E-8469-4817-B8CB-EB853183F414}"/>
    <pc:docChg chg="modSld">
      <pc:chgData name="Dave Idika" userId="70ea3614d7ae23b1" providerId="LiveId" clId="{705F800E-8469-4817-B8CB-EB853183F414}" dt="2026-08-26T10:26:58.280" v="9" actId="20577"/>
      <pc:docMkLst>
        <pc:docMk/>
      </pc:docMkLst>
      <pc:sldChg chg="modSp">
        <pc:chgData name="Dave Idika" userId="70ea3614d7ae23b1" providerId="LiveId" clId="{705F800E-8469-4817-B8CB-EB853183F414}" dt="2026-08-26T10:26:58.280" v="9" actId="20577"/>
        <pc:sldMkLst>
          <pc:docMk/>
          <pc:sldMk cId="0" sldId="260"/>
        </pc:sldMkLst>
        <pc:graphicFrameChg chg="mod">
          <ac:chgData name="Dave Idika" userId="70ea3614d7ae23b1" providerId="LiveId" clId="{705F800E-8469-4817-B8CB-EB853183F414}" dt="2026-08-26T10:26:58.280" v="9" actId="20577"/>
          <ac:graphicFrameMkLst>
            <pc:docMk/>
            <pc:sldMk cId="0" sldId="260"/>
            <ac:graphicFrameMk id="20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57FF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$</a:t>
                    </a:r>
                    <a:fld id="{39BE9426-F456-46A9-AF9D-AB4DC855666D}" type="VALUE">
                      <a:rPr lang="en-US" smtClean="0"/>
                      <a:pPr/>
                      <a:t>[VALUE]</a:t>
                    </a:fld>
                    <a:r>
                      <a:rPr lang="en-US"/>
                      <a:t>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01C-4761-A180-12177719702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$</a:t>
                    </a:r>
                    <a:fld id="{E6B6C923-EE19-4809-818E-7D7FE61D775A}" type="VALUE">
                      <a:rPr lang="en-US" smtClean="0"/>
                      <a:pPr/>
                      <a:t>[VALUE]</a:t>
                    </a:fld>
                    <a:r>
                      <a:rPr lang="en-US"/>
                      <a:t>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01C-4761-A180-12177719702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$</a:t>
                    </a:r>
                    <a:fld id="{C5EB7F4C-C9E7-49E6-AB69-2595ED18FF80}" type="VALUE">
                      <a:rPr lang="en-US" smtClean="0"/>
                      <a:pPr/>
                      <a:t>[VALUE]</a:t>
                    </a:fld>
                    <a:r>
                      <a:rPr lang="en-US"/>
                      <a:t>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01C-4761-A180-12177719702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$</a:t>
                    </a:r>
                    <a:fld id="{F8C19CE4-0056-450A-80B5-158F4B109BDE}" type="VALUE">
                      <a:rPr lang="en-US" smtClean="0"/>
                      <a:pPr/>
                      <a:t>[VALUE]</a:t>
                    </a:fld>
                    <a:r>
                      <a:rPr lang="en-US"/>
                      <a:t>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101C-4761-A180-12177719702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$</a:t>
                    </a:r>
                    <a:fld id="{53E5AC6F-CE7A-4A78-8735-014212855FD9}" type="VALUE">
                      <a:rPr lang="en-US" smtClean="0"/>
                      <a:pPr/>
                      <a:t>[VALUE]</a:t>
                    </a:fld>
                    <a:r>
                      <a:rPr lang="en-US"/>
                      <a:t>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01C-4761-A180-12177719702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Northeast</c:v>
                </c:pt>
                <c:pt idx="2">
                  <c:v>Southeast</c:v>
                </c:pt>
                <c:pt idx="3">
                  <c:v>South</c:v>
                </c:pt>
                <c:pt idx="4">
                  <c:v>Midwest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269.89999999999998</c:v>
                </c:pt>
                <c:pt idx="1">
                  <c:v>186.3</c:v>
                </c:pt>
                <c:pt idx="2">
                  <c:v>163.19999999999999</c:v>
                </c:pt>
                <c:pt idx="3">
                  <c:v>144.69999999999999</c:v>
                </c:pt>
                <c:pt idx="4">
                  <c:v>135.80000000000001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1C-4761-A180-1217771970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1111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93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1148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48640"/>
            <a:ext cx="41148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" y="548640"/>
            <a:ext cx="41148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ADIDAS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30352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2020–2021 EXECUTIVE PERFORMANCE REPORT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product, and geographic performance across 50 states, 6 retailers, and 6 product lines.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5989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6236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Idika Dave-Manny  | 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results, full period vs. prior year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11265408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11375136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5"/>
          <p:cNvSpPr/>
          <p:nvPr/>
        </p:nvSpPr>
        <p:spPr>
          <a:xfrm>
            <a:off x="448056" y="1362456"/>
            <a:ext cx="3676697" cy="2503352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kpi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3566969" cy="2393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9345" y="1362456"/>
            <a:ext cx="3629763" cy="2503352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kpi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209" y="1417320"/>
            <a:ext cx="3520035" cy="23936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083701" y="1362456"/>
            <a:ext cx="3629763" cy="2503352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kpi_total_uni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565" y="1417320"/>
            <a:ext cx="3520035" cy="23936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48056" y="3902384"/>
            <a:ext cx="2422747" cy="897922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kpi_margin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957248"/>
            <a:ext cx="2313019" cy="78819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925667" y="3902384"/>
            <a:ext cx="2319619" cy="897922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4" descr="kpi_total_transac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0531" y="3957248"/>
            <a:ext cx="2209891" cy="78819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300150" y="3902384"/>
            <a:ext cx="2319619" cy="897922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5" descr="kpi_avg_uni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5014" y="3957248"/>
            <a:ext cx="2209891" cy="78819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674633" y="3902384"/>
            <a:ext cx="1897871" cy="897922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6" descr="kpi_total_stat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9497" y="3957248"/>
            <a:ext cx="1788143" cy="78819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9627368" y="3902384"/>
            <a:ext cx="2086096" cy="897922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7" descr="kpi_total_retail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2232" y="3957248"/>
            <a:ext cx="1976368" cy="788194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502920" y="4928323"/>
            <a:ext cx="1115568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502920" y="5092915"/>
            <a:ext cx="11155680" cy="128959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15"/>
          <p:cNvSpPr/>
          <p:nvPr/>
        </p:nvSpPr>
        <p:spPr>
          <a:xfrm>
            <a:off x="777240" y="521178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5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PERIOD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777240" y="5513539"/>
            <a:ext cx="10607040" cy="786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metric grew triple digits year-over-year, but the drop in units-per-transaction (-27.6%) alongside a flat margin suggests growth is coming from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more, smaller transactions</a:t>
            </a: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bigger baskets — a channel and pricing story explored on the following slides.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//  2020–2021 EXECUTIVE REPORT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10835640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Shape 19"/>
          <p:cNvSpPr/>
          <p:nvPr/>
        </p:nvSpPr>
        <p:spPr>
          <a:xfrm>
            <a:off x="10945368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Shape 20"/>
          <p:cNvSpPr/>
          <p:nvPr/>
        </p:nvSpPr>
        <p:spPr>
          <a:xfrm>
            <a:off x="11055096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SALES TRENDS &amp; CHANNEL MIX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peaks mid-year; online leads the channel mix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11265408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11375136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Sales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417320"/>
            <a:ext cx="5349240" cy="27157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417320"/>
            <a:ext cx="5349240" cy="2715768"/>
          </a:xfrm>
          <a:prstGeom prst="rect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4169664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Adidas Sales Overview dashboard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563624"/>
            <a:ext cx="82296" cy="5669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skews digital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18013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accounts for 39.6% of revenue ($356.6M) — the single largest channel, ahead of Outlet (32.9%) and In-store (27.5%).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551176"/>
            <a:ext cx="82296" cy="5669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4963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demand spike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27889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climbs from ~$60M in January to a peak above $90M around July, then eases into Q4.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538728"/>
            <a:ext cx="82296" cy="5669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4838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and Foot Locker lead retailers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377647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 ($243.0M) and Foot Locker ($220.1M) generate the most revenue; Sports Direct posts the strongest margin at 40.7%.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4572000"/>
            <a:ext cx="11155680" cy="17373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7000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PERFORMANCE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029200"/>
          <a:ext cx="10698480" cy="1257300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Gear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$242.96M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625,262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 Locker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$220.09M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604,369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 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$182.47M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557,640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Kohl's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$102.11M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287,375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//  2020–2021 EXECUTIVE REPORT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0835640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Shape 20"/>
          <p:cNvSpPr/>
          <p:nvPr/>
        </p:nvSpPr>
        <p:spPr>
          <a:xfrm>
            <a:off x="10945368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Shape 21"/>
          <p:cNvSpPr/>
          <p:nvPr/>
        </p:nvSpPr>
        <p:spPr>
          <a:xfrm>
            <a:off x="11055096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is the breakout performer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11265408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11375136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Product_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417320"/>
            <a:ext cx="5349240" cy="2688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417320"/>
            <a:ext cx="5349240" cy="2688336"/>
          </a:xfrm>
          <a:prstGeom prst="rect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4142232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Adidas Product Overview dashboard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563624"/>
            <a:ext cx="82296" cy="5669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dominates on every metric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180136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$208.8M in sales, $82.8M profit, and 593K units sold — up 452%, 432%, and 498% vs. prior year respectively.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551176"/>
            <a:ext cx="82296" cy="5669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4963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margin, not just highest volume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27889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also carries the best profit margin at 39.65%, ahead of Women's Apparel (38.3%) and Men's Apparel (36.2%).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538728"/>
            <a:ext cx="82296" cy="5669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4838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Athletic Footwear is the laggard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377647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$106.6M it's the lowest-selling line, though still up 351.3% YoY — the growth story lifted every category, just unevenly.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48056" y="4654296"/>
            <a:ext cx="2585769" cy="1527048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1" descr="pkpi_top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709160"/>
            <a:ext cx="2476041" cy="1417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125265" y="4654296"/>
            <a:ext cx="2585769" cy="1527048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2" descr="pkpi_top_prof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0129" y="4709160"/>
            <a:ext cx="2476041" cy="1417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802474" y="4654296"/>
            <a:ext cx="2713840" cy="1527048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3" descr="pkpi_top_un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338" y="4709160"/>
            <a:ext cx="2604112" cy="141732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607754" y="4654296"/>
            <a:ext cx="2799221" cy="1527048"/>
          </a:xfrm>
          <a:prstGeom prst="rect">
            <a:avLst/>
          </a:prstGeom>
          <a:solidFill>
            <a:srgbClr val="F4F4F4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4" descr="pkpi_lowest_sal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2618" y="4709160"/>
            <a:ext cx="2689493" cy="1417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//  2020–2021 EXECUTIVE REPORT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0835640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Shape 22"/>
          <p:cNvSpPr/>
          <p:nvPr/>
        </p:nvSpPr>
        <p:spPr>
          <a:xfrm>
            <a:off x="10945368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Shape 23"/>
          <p:cNvSpPr/>
          <p:nvPr/>
        </p:nvSpPr>
        <p:spPr>
          <a:xfrm>
            <a:off x="11055096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GEOGRAPHIC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move together — New York leads by a wide margin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155680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Shape 3"/>
          <p:cNvSpPr/>
          <p:nvPr/>
        </p:nvSpPr>
        <p:spPr>
          <a:xfrm>
            <a:off x="11265408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11375136" y="457200"/>
            <a:ext cx="41148" cy="457200"/>
          </a:xfrm>
          <a:prstGeom prst="rect">
            <a:avLst/>
          </a:prstGeom>
          <a:solidFill>
            <a:srgbClr val="111111"/>
          </a:solidFill>
          <a:ln/>
        </p:spPr>
      </p:sp>
      <p:pic>
        <p:nvPicPr>
          <p:cNvPr id="7" name="Image 0" descr="Location_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1417320"/>
            <a:ext cx="539496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1417320"/>
            <a:ext cx="5394960" cy="2743200"/>
          </a:xfrm>
          <a:prstGeom prst="rect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4178808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Adidas Location Overview dashboard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563624"/>
            <a:ext cx="82296" cy="5669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is the standout state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1801368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$64.2M revenue, $23.3M profit, and 169K units sold — all category leaders, each up 51–68% vs. prior year.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551176"/>
            <a:ext cx="82296" cy="5669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4963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scale together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27889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shows a tight, near-linear relationship: high-revenue states (CA, FL, NY) also post the highest profit, with no major margin outliers.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538728"/>
            <a:ext cx="82296" cy="5669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4838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leads regionally, but is closely followed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3776472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($269.9M) and Northeast ($186.3M) top the region split, while Nebraska is the lowest single state at just $5.93M.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4617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2017993691"/>
              </p:ext>
            </p:extLst>
          </p:nvPr>
        </p:nvGraphicFramePr>
        <p:xfrm>
          <a:off x="411480" y="4892040"/>
          <a:ext cx="1133856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 //  2020–2021 EXECUTIVE REPORT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10835640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Shape 19"/>
          <p:cNvSpPr/>
          <p:nvPr/>
        </p:nvSpPr>
        <p:spPr>
          <a:xfrm>
            <a:off x="10945368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Shape 20"/>
          <p:cNvSpPr/>
          <p:nvPr/>
        </p:nvSpPr>
        <p:spPr>
          <a:xfrm>
            <a:off x="11055096" y="6565392"/>
            <a:ext cx="41148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1148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" y="502920"/>
            <a:ext cx="41148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" y="502920"/>
            <a:ext cx="41148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 &amp; RECOMMENDATIONS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349240" cy="173736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extend the footwear win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leads on sales, profit, and margin — prioritize inventory and marketing spend to defend and grow this line into 2022.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49240" cy="173736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37960" y="253288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further into online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is already the top channel at 39.6% of revenue; test online-exclusive drops and expanded fulfillment to compound that lead.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5349240" cy="173736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" y="44988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basket-size decline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units per transaction fell 27.6% even as transactions grew — worth confirming whether this reflects intentional smaller-format promotions or a pricing/assortment gap.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840480"/>
            <a:ext cx="5349240" cy="173736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9776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7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37960" y="449884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Midwest and South for expansion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37960" y="484632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regions trail West and Northeast by $130M+; replicate New York/California retailer mix and promotions where regional fit allows.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Idika Dave-Manny  ·  Data Analyst  ·  Adidas 2020–2021 Executive 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649</Words>
  <Application>Microsoft Office PowerPoint</Application>
  <PresentationFormat>Widescreen</PresentationFormat>
  <Paragraphs>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Dave Idika</cp:lastModifiedBy>
  <cp:revision>1</cp:revision>
  <dcterms:created xsi:type="dcterms:W3CDTF">2026-08-26T10:05:23Z</dcterms:created>
  <dcterms:modified xsi:type="dcterms:W3CDTF">2026-08-26T10:27:01Z</dcterms:modified>
</cp:coreProperties>
</file>